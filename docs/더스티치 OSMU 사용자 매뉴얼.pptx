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2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9FC08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THE STITCH · OSMU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03920"/>
            <a:ext cx="9156700" cy="142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b="1" dirty="0">
                <a:solidFill>
                  <a:srgbClr val="F3F0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더스티치 OSMU</a:t>
            </a:r>
            <a:endParaRPr lang="en-US" sz="4800" dirty="0"/>
          </a:p>
          <a:p>
            <a:pPr algn="l" indent="0" marL="0">
              <a:lnSpc>
                <a:spcPts val="5520"/>
              </a:lnSpc>
              <a:buNone/>
            </a:pPr>
            <a:r>
              <a:rPr lang="en-US" sz="4800" b="1" dirty="0">
                <a:solidFill>
                  <a:srgbClr val="F3F0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사용자 매뉴얼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2783780"/>
            <a:ext cx="78486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8DEC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브랜드 킷부터 워크벤치, 뉴스 큐레이션, 네이버 반자동 게시까지 — 처음 설정하는 순서대로 정리했습니다.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5849640"/>
            <a:ext cx="126384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FC08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Flet 데스크톱 앱 기준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5B755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456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2629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27510"/>
            <a:ext cx="4064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5B755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2700" y="1887835"/>
            <a:ext cx="181008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시작하기 전에 — 화면 구조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0" y="1827510"/>
            <a:ext cx="4064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5B755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65900" y="1887835"/>
            <a:ext cx="67885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브랜드 킷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2118965"/>
            <a:ext cx="4064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5B755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2700" y="2179290"/>
            <a:ext cx="101237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최초 설정 순서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0" y="2118965"/>
            <a:ext cx="4064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5B755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07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65900" y="2179290"/>
            <a:ext cx="63991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워크벤치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2410420"/>
            <a:ext cx="4064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5B755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2700" y="2470745"/>
            <a:ext cx="99471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LLM API 등록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96000" y="2410420"/>
            <a:ext cx="4064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5B755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65900" y="2470745"/>
            <a:ext cx="97338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뉴스 큐레이션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2701875"/>
            <a:ext cx="4064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5B755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2700" y="2762200"/>
            <a:ext cx="222463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네이버 API HUB · 검색광고 API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96000" y="2701875"/>
            <a:ext cx="4064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5B755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09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65900" y="2762200"/>
            <a:ext cx="130690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네이버 반자동 게시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2993330"/>
            <a:ext cx="4064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5B755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2700" y="3053655"/>
            <a:ext cx="205734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SEO 키워드 새로 고르기 (1~4단계)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96000" y="2993330"/>
            <a:ext cx="4064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5B755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65900" y="3053655"/>
            <a:ext cx="141520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유의사항 체크리스트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6256040"/>
            <a:ext cx="207277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더스티치 OSMU 사용자 매뉴얼 · 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5B755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01 · GETTING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456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2629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시작하기 전에 — 화면 구조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598910"/>
            <a:ext cx="91567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왼쪽 사이드바에 6개 화면이 있습니다. 위에서 아래로 처음 설정 → 콘텐츠 생성 → 게시 흐름입니다.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975" y="2087215"/>
            <a:ext cx="3414167" cy="900410"/>
          </a:xfrm>
          <a:prstGeom prst="roundRect">
            <a:avLst>
              <a:gd name="adj" fmla="val 10931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22350" y="2293590"/>
            <a:ext cx="30914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📊 대시보드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2350" y="2585690"/>
            <a:ext cx="3091459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전체 콘텐츠 현황을 한눈에 봅니다.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8892" y="2087215"/>
            <a:ext cx="3414167" cy="900410"/>
          </a:xfrm>
          <a:prstGeom prst="roundRect">
            <a:avLst>
              <a:gd name="adj" fmla="val 10931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95267" y="2293590"/>
            <a:ext cx="30914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✍️ 워크벤치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95267" y="2585690"/>
            <a:ext cx="3091459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초안을 만들고, 채널별로 수정·저장합니다.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61809" y="2087215"/>
            <a:ext cx="3414216" cy="900410"/>
          </a:xfrm>
          <a:prstGeom prst="roundRect">
            <a:avLst>
              <a:gd name="adj" fmla="val 10931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168184" y="2293590"/>
            <a:ext cx="309151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📰 뉴스 큐레이션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68184" y="2585690"/>
            <a:ext cx="309151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브랜드 키워드로 기사를 찾아 워크벤치로 보냅니다.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5975" y="3146375"/>
            <a:ext cx="3414167" cy="1095970"/>
          </a:xfrm>
          <a:prstGeom prst="roundRect">
            <a:avLst>
              <a:gd name="adj" fmla="val 8981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22350" y="3352750"/>
            <a:ext cx="30914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🧵 브랜드 킷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22350" y="3644850"/>
            <a:ext cx="3091459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브랜드 정보·SEO 키워드·컴플라이언스를 관리합니다.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8892" y="3146375"/>
            <a:ext cx="3414167" cy="1095970"/>
          </a:xfrm>
          <a:prstGeom prst="roundRect">
            <a:avLst>
              <a:gd name="adj" fmla="val 8981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95267" y="3352750"/>
            <a:ext cx="30914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🚀 네이버 게시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95267" y="3644850"/>
            <a:ext cx="3091459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반자동 게시 대기열을 관리합니다.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61809" y="3146375"/>
            <a:ext cx="3414216" cy="1095970"/>
          </a:xfrm>
          <a:prstGeom prst="roundRect">
            <a:avLst>
              <a:gd name="adj" fmla="val 8981"/>
            </a:avLst>
          </a:prstGeom>
          <a:solidFill>
            <a:srgbClr val="E7EEE1"/>
          </a:solidFill>
          <a:ln w="6350">
            <a:solidFill>
              <a:srgbClr val="C9D8B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168184" y="3352750"/>
            <a:ext cx="309151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E51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⚙️ 설정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68184" y="3644850"/>
            <a:ext cx="309151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E51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LLM·네이버 API 키를 등록합니다 — 가장 먼저 여기부터.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2800" y="6256040"/>
            <a:ext cx="207277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더스티치 OSMU 사용자 매뉴얼 · 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5B755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02 · SETUP ORDER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456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2629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최초 설정 순서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598910"/>
            <a:ext cx="981075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아래 5단계를 순서대로 한 번만 하면, 이후에는 워크벤치·뉴스 큐레이션·네이버 게시만 반복하면 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975" y="2188815"/>
            <a:ext cx="1659880" cy="1202630"/>
          </a:xfrm>
          <a:prstGeom prst="roundRect">
            <a:avLst>
              <a:gd name="adj" fmla="val 8184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96950" y="2369790"/>
            <a:ext cx="13487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5B755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96950" y="2801590"/>
            <a:ext cx="1348730" cy="229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LLM API 등록</a:t>
            </a:r>
            <a:endParaRPr lang="en-US" sz="115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06030" y="2185640"/>
            <a:ext cx="304800" cy="152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41005" y="2188815"/>
            <a:ext cx="1659930" cy="1202630"/>
          </a:xfrm>
          <a:prstGeom prst="roundRect">
            <a:avLst>
              <a:gd name="adj" fmla="val 8184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221980" y="2369790"/>
            <a:ext cx="13487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5B755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221980" y="2801590"/>
            <a:ext cx="134878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네이버 API HUB 등록</a:t>
            </a:r>
            <a:endParaRPr lang="en-US" sz="1150" dirty="0"/>
          </a:p>
        </p:txBody>
      </p:sp>
      <p:pic>
        <p:nvPicPr>
          <p:cNvPr id="12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31110" y="2185640"/>
            <a:ext cx="304800" cy="1524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266085" y="2188815"/>
            <a:ext cx="1659880" cy="1202630"/>
          </a:xfrm>
          <a:prstGeom prst="roundRect">
            <a:avLst>
              <a:gd name="adj" fmla="val 8184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5447060" y="2369790"/>
            <a:ext cx="13487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5B755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5447060" y="2801590"/>
            <a:ext cx="1348730" cy="229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검색광고 API 등록</a:t>
            </a:r>
            <a:endParaRPr lang="en-US" sz="1150" dirty="0"/>
          </a:p>
        </p:txBody>
      </p:sp>
      <p:pic>
        <p:nvPicPr>
          <p:cNvPr id="16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56140" y="2185640"/>
            <a:ext cx="304800" cy="1524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491115" y="2188815"/>
            <a:ext cx="1659880" cy="1202630"/>
          </a:xfrm>
          <a:prstGeom prst="roundRect">
            <a:avLst>
              <a:gd name="adj" fmla="val 8184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7672090" y="2369790"/>
            <a:ext cx="13487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5B755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7672090" y="2801590"/>
            <a:ext cx="134873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SEO 키워드 새로 고르기 (1~4단계)</a:t>
            </a:r>
            <a:endParaRPr lang="en-US" sz="1150" dirty="0"/>
          </a:p>
        </p:txBody>
      </p:sp>
      <p:pic>
        <p:nvPicPr>
          <p:cNvPr id="20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81170" y="2185640"/>
            <a:ext cx="304800" cy="1524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9716145" y="2188815"/>
            <a:ext cx="1659880" cy="1202630"/>
          </a:xfrm>
          <a:prstGeom prst="roundRect">
            <a:avLst>
              <a:gd name="adj" fmla="val 8184"/>
            </a:avLst>
          </a:prstGeom>
          <a:solidFill>
            <a:srgbClr val="E7EEE1"/>
          </a:solidFill>
          <a:ln w="6350">
            <a:solidFill>
              <a:srgbClr val="C9D8BE"/>
            </a:solidFill>
            <a:prstDash val="solid"/>
          </a:ln>
        </p:spPr>
        <p:txBody>
          <a:bodyPr/>
          <a:p/>
        </p:txBody>
      </p:sp>
      <p:sp>
        <p:nvSpPr>
          <p:cNvPr id="22" name="Text 16"/>
          <p:cNvSpPr/>
          <p:nvPr/>
        </p:nvSpPr>
        <p:spPr>
          <a:xfrm>
            <a:off x="9897120" y="2369790"/>
            <a:ext cx="13487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3E513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9897120" y="2801590"/>
            <a:ext cx="134873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3E51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브랜드 킷에 SEO 반영 완료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15975" y="3753396"/>
            <a:ext cx="10560050" cy="515590"/>
          </a:xfrm>
          <a:prstGeom prst="roundRect">
            <a:avLst>
              <a:gd name="adj" fmla="val 14163"/>
            </a:avLst>
          </a:prstGeom>
          <a:solidFill>
            <a:srgbClr val="FFF6E5"/>
          </a:solidFill>
          <a:ln w="6350">
            <a:solidFill>
              <a:srgbClr val="EAD9AE"/>
            </a:solidFill>
            <a:prstDash val="solid"/>
          </a:ln>
        </p:spPr>
        <p:txBody>
          <a:bodyPr/>
          <a:p/>
        </p:txBody>
      </p:sp>
      <p:sp>
        <p:nvSpPr>
          <p:cNvPr id="25" name="Text 19"/>
          <p:cNvSpPr/>
          <p:nvPr/>
        </p:nvSpPr>
        <p:spPr>
          <a:xfrm>
            <a:off x="1022350" y="3908971"/>
            <a:ext cx="10451719" cy="229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8A6D3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2·3단계(네이버 API HUB, 검색광고 API)를 모두 등록해야 4단계 [SEO 키워드 새로 고르기]의 버튼이 눌립니다.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12800" y="6256040"/>
            <a:ext cx="207277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더스티치 OSMU 사용자 매뉴얼 · 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5B755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03 · SETUP · STEP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456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2629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LLM API 등록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598910"/>
            <a:ext cx="981075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⚙️ 설정 → LLM 벤더 탭. 초안 생성·컴플라이언스 판정 등 글쓰기 전체가 이 키에 의존합니다.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975" y="2112615"/>
            <a:ext cx="3007767" cy="1407071"/>
          </a:xfrm>
          <a:prstGeom prst="roundRect">
            <a:avLst>
              <a:gd name="adj" fmla="val 6995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47750" y="2344390"/>
            <a:ext cx="26205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① 벤더 카드에서 키 입력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7750" y="2674590"/>
            <a:ext cx="2620543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원하는 벤더(Anthropic/OpenAI/Google 등) 카드에 API 키를 붙여넣습니다.</a:t>
            </a:r>
            <a:endParaRPr lang="en-US" sz="115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30117" y="2109440"/>
            <a:ext cx="355600" cy="152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92092" y="2112615"/>
            <a:ext cx="3007816" cy="1407071"/>
          </a:xfrm>
          <a:prstGeom prst="roundRect">
            <a:avLst>
              <a:gd name="adj" fmla="val 6995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823867" y="2344390"/>
            <a:ext cx="262059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② [연결 테스트 · 저장]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23867" y="2674590"/>
            <a:ext cx="2620594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클릭하면 실제 호출로 키를 검증하고, 성공 시 암호화해 저장합니다.</a:t>
            </a:r>
            <a:endParaRPr lang="en-US" sz="1150" dirty="0"/>
          </a:p>
        </p:txBody>
      </p:sp>
      <p:pic>
        <p:nvPicPr>
          <p:cNvPr id="12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06283" y="2109440"/>
            <a:ext cx="355600" cy="1524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368258" y="2112615"/>
            <a:ext cx="3007767" cy="1407071"/>
          </a:xfrm>
          <a:prstGeom prst="roundRect">
            <a:avLst>
              <a:gd name="adj" fmla="val 6995"/>
            </a:avLst>
          </a:prstGeom>
          <a:solidFill>
            <a:srgbClr val="E7EEE1"/>
          </a:solidFill>
          <a:ln w="6350">
            <a:solidFill>
              <a:srgbClr val="C9D8BE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8600033" y="2344390"/>
            <a:ext cx="26205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E51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③ 기본 생성 모델 자동 지정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8600033" y="2674590"/>
            <a:ext cx="2620543" cy="638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E51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가장 먼저 성공한 벤더가 자동으로 기본 모델이 됩니다. 나중에 다른 벤더로 바꾸려면 그 벤더에서 다시 테스트하면 됩니다.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12800" y="3802261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키는 평문으로 저장되지 않습니다 — 암호화되어 DB에 저장됩니다.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12800" y="6256040"/>
            <a:ext cx="207277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더스티치 OSMU 사용자 매뉴얼 · 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5B755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04 · SETUP · STEP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456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2629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네이버 API HUB 등록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598910"/>
            <a:ext cx="981075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⚙️ 설정 → 네이버 API 탭 → 🔍 네이버 API HUB. 블로그·뉴스·카페 검색과 검색어트렌드를 담당합니다.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975" y="2087215"/>
            <a:ext cx="3397250" cy="1288951"/>
          </a:xfrm>
          <a:prstGeom prst="roundRect">
            <a:avLst>
              <a:gd name="adj" fmla="val 7636"/>
            </a:avLst>
          </a:prstGeom>
          <a:solidFill>
            <a:srgbClr val="FFF6E5"/>
          </a:solidFill>
          <a:ln w="6350">
            <a:solidFill>
              <a:srgbClr val="EAD9A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22350" y="2293590"/>
            <a:ext cx="30740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8A6D3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💳 유료 종량제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2350" y="2583111"/>
            <a:ext cx="3074035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6D3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일일 호출 상한을 입력하면 앱이 그 한도에서 스스로 차단합니다. 네이버 콘솔에도 한도를 걸어두면 이중으로 안전합니다.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97375" y="2087215"/>
            <a:ext cx="3397250" cy="1288951"/>
          </a:xfrm>
          <a:prstGeom prst="roundRect">
            <a:avLst>
              <a:gd name="adj" fmla="val 7636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03750" y="2293590"/>
            <a:ext cx="30740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 항목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03750" y="2583111"/>
            <a:ext cx="3074035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Client ID · Client Secret · 일일 호출 상한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78775" y="2087215"/>
            <a:ext cx="3397250" cy="1288951"/>
          </a:xfrm>
          <a:prstGeom prst="roundRect">
            <a:avLst>
              <a:gd name="adj" fmla="val 7636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185150" y="2293590"/>
            <a:ext cx="30740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처음이라면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85150" y="2583111"/>
            <a:ext cx="307403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화면의 [📄 키 발급 방법] 토글을 펼치면 발급 절차가 안내됩니다.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2800" y="363334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 후 [연결 테스트 · 저장]을 누르면 저장과 검증이 함께 이루어집니다.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6256040"/>
            <a:ext cx="207277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더스티치 OSMU 사용자 매뉴얼 · 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5B755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04 · SETUP · STEP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456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2629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검색광고 API 등록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598910"/>
            <a:ext cx="981075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⚙️ 설정 → 네이버 API 탭 → 📊 검색광고 API (광고주센터). 절대 월간 검색량과 연관키워드 발굴을 담당합니다.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975" y="2087215"/>
            <a:ext cx="3397250" cy="1093391"/>
          </a:xfrm>
          <a:prstGeom prst="roundRect">
            <a:avLst>
              <a:gd name="adj" fmla="val 9002"/>
            </a:avLst>
          </a:prstGeom>
          <a:solidFill>
            <a:srgbClr val="E7EEE1"/>
          </a:solidFill>
          <a:ln w="6350">
            <a:solidFill>
              <a:srgbClr val="C9D8B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22350" y="2293590"/>
            <a:ext cx="30740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3E51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완전 무료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2350" y="2583111"/>
            <a:ext cx="307403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E51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네이버 API HUB의 일일 상한과는 무관하게 동작합니다.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97375" y="2087215"/>
            <a:ext cx="3397250" cy="1093391"/>
          </a:xfrm>
          <a:prstGeom prst="roundRect">
            <a:avLst>
              <a:gd name="adj" fmla="val 9002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03750" y="2293590"/>
            <a:ext cx="30740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입력 항목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03750" y="2583111"/>
            <a:ext cx="307403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CUSTOMER_ID · 액세스라이선스 · 비밀키 (3개 모두 필요)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78775" y="2087215"/>
            <a:ext cx="3397250" cy="1093391"/>
          </a:xfrm>
          <a:prstGeom prst="roundRect">
            <a:avLst>
              <a:gd name="adj" fmla="val 9002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185150" y="2293590"/>
            <a:ext cx="30740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발급처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85150" y="2583111"/>
            <a:ext cx="307403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네이버 검색광고 광고주센터. 화면의 [📄 키 발급 방법] 토글 참고.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2800" y="343778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두 API(HUB + 검색광고)를 모두 등록해야 다음 단계인 [SEO 키워드 새로 고르기] 버튼이 활성화됩니다.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6256040"/>
            <a:ext cx="207277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더스티치 OSMU 사용자 매뉴얼 · 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5B755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05 · SETUP · STEP 4 (1/2)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456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2629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SEO 키워드 새로 고르기 — 1·2단계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598910"/>
            <a:ext cx="10464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⚙️ 설정 → 네이버 API 탭 → 🔑 SEO 키워드 새로 고르기. SEO 키워드를 바꾸는 곳은 여기 하나뿐입니다.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975" y="2087215"/>
            <a:ext cx="5175250" cy="1532781"/>
          </a:xfrm>
          <a:prstGeom prst="roundRect">
            <a:avLst>
              <a:gd name="adj" fmla="val 6421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47750" y="2318990"/>
            <a:ext cx="485305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50" kern="0" dirty="0">
                <a:solidFill>
                  <a:srgbClr val="5B755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STAGE 1 · 무료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47750" y="2616150"/>
            <a:ext cx="485305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🔎 후보 찾기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7750" y="2961580"/>
            <a:ext cx="485305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씨앗 키워드를 최대 5개까지 쉼표로 입력합니다. 브랜드 이름이 아니라 실제로 검색되는 일반적인 말이어야 합니다. 호출 비용은 없습니다.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00775" y="2087215"/>
            <a:ext cx="5175250" cy="1532781"/>
          </a:xfrm>
          <a:prstGeom prst="roundRect">
            <a:avLst>
              <a:gd name="adj" fmla="val 6421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32550" y="2318990"/>
            <a:ext cx="485305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50" kern="0" dirty="0">
                <a:solidFill>
                  <a:srgbClr val="5B755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STAGE 2 · 유료 호출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32550" y="2616150"/>
            <a:ext cx="485305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💳 경쟁도 조사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32550" y="2961580"/>
            <a:ext cx="485305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찾은 후보 중 상위 N개(슬라이더로 조절)를 골라 검색량·경쟁 문서 수를 실측합니다. 버튼에 예상 호출 횟수가 함께 표시됩니다.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975" y="3880346"/>
            <a:ext cx="10560050" cy="515590"/>
          </a:xfrm>
          <a:prstGeom prst="roundRect">
            <a:avLst>
              <a:gd name="adj" fmla="val 14163"/>
            </a:avLst>
          </a:prstGeom>
          <a:solidFill>
            <a:srgbClr val="FFF6E5"/>
          </a:solidFill>
          <a:ln w="6350">
            <a:solidFill>
              <a:srgbClr val="EAD9A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22350" y="4035921"/>
            <a:ext cx="10451719" cy="229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8A6D3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후보가 150개 미만이면 씨앗 키워드에 수식어가 붙어 범위가 좁아졌다는 경고가 뜹니다 — 더 일반적인 카테고리 이름으로 바꿔보세요.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2800" y="6256040"/>
            <a:ext cx="207277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더스티치 OSMU 사용자 매뉴얼 · 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5B755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05 · SETUP · STEP 4 (2/2)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456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2629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SEO 키워드 새로 고르기 — 3·4단계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79885"/>
            <a:ext cx="5175250" cy="1532781"/>
          </a:xfrm>
          <a:prstGeom prst="roundRect">
            <a:avLst>
              <a:gd name="adj" fmla="val 6421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50" y="2011660"/>
            <a:ext cx="485305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50" kern="0" dirty="0">
                <a:solidFill>
                  <a:srgbClr val="5B755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STAGE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47750" y="2308820"/>
            <a:ext cx="485305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🤖 브랜드에 맞는 것만 고르기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7750" y="2654250"/>
            <a:ext cx="485305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AI가 조사된 키워드를 브랜드 페르소나·핵심 팩트에 비추어 채택/제외합니다. 제외된 항목도 목록에 남아 체크박스로 되살릴 수 있습니다.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00775" y="1779885"/>
            <a:ext cx="5175250" cy="1532781"/>
          </a:xfrm>
          <a:prstGeom prst="roundRect">
            <a:avLst>
              <a:gd name="adj" fmla="val 6421"/>
            </a:avLst>
          </a:prstGeom>
          <a:solidFill>
            <a:srgbClr val="E7EEE1"/>
          </a:solidFill>
          <a:ln w="6350">
            <a:solidFill>
              <a:srgbClr val="C9D8B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32550" y="2011660"/>
            <a:ext cx="485305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50" kern="0" dirty="0">
                <a:solidFill>
                  <a:srgbClr val="3E51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STAGE 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32550" y="2308820"/>
            <a:ext cx="485305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E51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✅ 적용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32550" y="2654250"/>
            <a:ext cx="485305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51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[적용]을 누르는 순간 브랜드 킷의 SEO 키워드가 바뀌고 새 키워드 측정까지 끝납니다. 따로 할 일은 없습니다(적용 직후 숫자 재기 불필요).</a:t>
            </a:r>
            <a:endParaRPr lang="en-US" sz="1200" dirty="0"/>
          </a:p>
        </p:txBody>
      </p:sp>
      <p:pic>
        <p:nvPicPr>
          <p:cNvPr id="12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3569841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93800" y="3577481"/>
            <a:ext cx="47129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적용 결과는 이후 07 브랜드 킷 화면의 SEO 키워드 표에 그대로 나타납니다.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2800" y="6256040"/>
            <a:ext cx="207277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더스티치 OSMU 사용자 매뉴얼 · 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5B755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06 · BRAND KIT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456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2629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브랜드 킷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598910"/>
            <a:ext cx="10464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모든 콘텐츠가 이 정보를 기준으로 쓰입니다. 처음엔 기본값이 채워져 있으니, 우리 브랜드에 맞게 확인·수정하세요.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975" y="2061815"/>
            <a:ext cx="3431084" cy="849610"/>
          </a:xfrm>
          <a:prstGeom prst="roundRect">
            <a:avLst>
              <a:gd name="adj" fmla="val 10090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71550" y="2217390"/>
            <a:ext cx="321353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기업 · 채널 정보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1550" y="2400250"/>
            <a:ext cx="32135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기업명 · 브랜드명 · 업종 · 홈페이지 · 네이버 블로그 아이디 · 인스타그램 핸들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0409" y="2061815"/>
            <a:ext cx="3431133" cy="849610"/>
          </a:xfrm>
          <a:prstGeom prst="roundRect">
            <a:avLst>
              <a:gd name="adj" fmla="val 10090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35984" y="2217390"/>
            <a:ext cx="3213583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페르소나 · 톤앤매너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35984" y="2400250"/>
            <a:ext cx="321358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글을 쓰는 화자의 인격과 문장 규칙(존댓말·길이·금지 표현 등)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44892" y="2061815"/>
            <a:ext cx="3431084" cy="849610"/>
          </a:xfrm>
          <a:prstGeom prst="roundRect">
            <a:avLst>
              <a:gd name="adj" fmla="val 10090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100467" y="2217390"/>
            <a:ext cx="321353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핵심 팩트 · 용어집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00467" y="2400250"/>
            <a:ext cx="321353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검증된 브랜드 사실 목록과 고유명사 표기 통일 사전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5975" y="3044775"/>
            <a:ext cx="3431084" cy="849610"/>
          </a:xfrm>
          <a:prstGeom prst="roundRect">
            <a:avLst>
              <a:gd name="adj" fmla="val 10090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71550" y="3200350"/>
            <a:ext cx="321353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SEO 키워드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71550" y="3383211"/>
            <a:ext cx="32135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SEO 키워드 새로 고르기의 결과. 전환 가중치·검색 타깃 여부를 표에서 직접 조정 가능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0409" y="3044775"/>
            <a:ext cx="3431133" cy="849610"/>
          </a:xfrm>
          <a:prstGeom prst="roundRect">
            <a:avLst>
              <a:gd name="adj" fmla="val 10090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35984" y="3200350"/>
            <a:ext cx="3213583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🛡️ 컴플라이언스 가드레일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35984" y="3383211"/>
            <a:ext cx="321358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환경성 표시·광고 규정 위반 표현을 검수하는 스위치. 금기어→치환어 사전도 여기서 관리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44892" y="3044775"/>
            <a:ext cx="3431084" cy="849610"/>
          </a:xfrm>
          <a:prstGeom prst="roundRect">
            <a:avLst>
              <a:gd name="adj" fmla="val 10090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100467" y="3200350"/>
            <a:ext cx="3213532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우수 포스팅 샘플 · 컬러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00467" y="3383211"/>
            <a:ext cx="321353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원하는 문체의 예시 글, 브랜드 컬러 팔레트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5975" y="4129336"/>
            <a:ext cx="10560050" cy="455910"/>
          </a:xfrm>
          <a:prstGeom prst="roundRect">
            <a:avLst>
              <a:gd name="adj" fmla="val 16017"/>
            </a:avLst>
          </a:prstGeom>
          <a:solidFill>
            <a:srgbClr val="FDECEA"/>
          </a:solidFill>
          <a:ln w="6350">
            <a:solidFill>
              <a:srgbClr val="F2C6C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22350" y="4259511"/>
            <a:ext cx="10451719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B3261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SEO 키워드 경쟁도 측정이 만료되면 전환 가중치가 조용히 꺼집니다 — 만료 경고가 보이면 설정의 🔄 키워드 수치 유지 [숫자만 새로 재기]를 누르세요.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2800" y="6256040"/>
            <a:ext cx="207277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더스티치 OSMU 사용자 매뉴얼 · 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5B755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07 · WORKBENCH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456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2629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워크벤치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598910"/>
            <a:ext cx="10464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직접 소재를 넣어 초안을 만드는 화면입니다. 뉴스 큐레이션에서 보낸 기사도 여기서 완성합니다.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975" y="2087215"/>
            <a:ext cx="1720850" cy="1207641"/>
          </a:xfrm>
          <a:prstGeom prst="roundRect">
            <a:avLst>
              <a:gd name="adj" fmla="val 8150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84250" y="2255490"/>
            <a:ext cx="14351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B755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4250" y="2550120"/>
            <a:ext cx="1435100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➕ 새 콘텐츠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84250" y="2788841"/>
            <a:ext cx="1435100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메모와 사진을 입력합니다</a:t>
            </a:r>
            <a:endParaRPr lang="en-US" sz="950" dirty="0"/>
          </a:p>
        </p:txBody>
      </p:sp>
      <p:pic>
        <p:nvPicPr>
          <p:cNvPr id="9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67000" y="2084040"/>
            <a:ext cx="228600" cy="127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025775" y="2087215"/>
            <a:ext cx="1720850" cy="1207641"/>
          </a:xfrm>
          <a:prstGeom prst="roundRect">
            <a:avLst>
              <a:gd name="adj" fmla="val 8150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194050" y="2255490"/>
            <a:ext cx="14351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B755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194050" y="2550120"/>
            <a:ext cx="1435100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🪄 초안 생성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194050" y="2788841"/>
            <a:ext cx="1435100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채널별 글을 한 번에 생성</a:t>
            </a:r>
            <a:endParaRPr lang="en-US" sz="950" dirty="0"/>
          </a:p>
        </p:txBody>
      </p:sp>
      <p:pic>
        <p:nvPicPr>
          <p:cNvPr id="14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76800" y="2084040"/>
            <a:ext cx="228600" cy="1270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235575" y="2087215"/>
            <a:ext cx="1720850" cy="1207641"/>
          </a:xfrm>
          <a:prstGeom prst="roundRect">
            <a:avLst>
              <a:gd name="adj" fmla="val 8150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5403850" y="2255490"/>
            <a:ext cx="14351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B755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403850" y="2550120"/>
            <a:ext cx="1435100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채널 탭 확인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403850" y="2788841"/>
            <a:ext cx="143510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네이버·인스타·X·쇼츠 미리보기</a:t>
            </a:r>
            <a:endParaRPr lang="en-US" sz="950" dirty="0"/>
          </a:p>
        </p:txBody>
      </p:sp>
      <p:pic>
        <p:nvPicPr>
          <p:cNvPr id="19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86600" y="2084040"/>
            <a:ext cx="228600" cy="1270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445375" y="2087215"/>
            <a:ext cx="1720850" cy="1207641"/>
          </a:xfrm>
          <a:prstGeom prst="roundRect">
            <a:avLst>
              <a:gd name="adj" fmla="val 8150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/>
          <p:nvPr/>
        </p:nvSpPr>
        <p:spPr>
          <a:xfrm>
            <a:off x="7613650" y="2255490"/>
            <a:ext cx="14351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B755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613650" y="2550120"/>
            <a:ext cx="1435100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✏️ 수정 반영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7613650" y="2788841"/>
            <a:ext cx="1435100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마음에 안 들면 🔁 다시 생성</a:t>
            </a:r>
            <a:endParaRPr lang="en-US" sz="950" dirty="0"/>
          </a:p>
        </p:txBody>
      </p:sp>
      <p:pic>
        <p:nvPicPr>
          <p:cNvPr id="24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96400" y="2084040"/>
            <a:ext cx="228600" cy="1270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655175" y="2087215"/>
            <a:ext cx="1720850" cy="1207641"/>
          </a:xfrm>
          <a:prstGeom prst="roundRect">
            <a:avLst>
              <a:gd name="adj" fmla="val 8150"/>
            </a:avLst>
          </a:prstGeom>
          <a:solidFill>
            <a:srgbClr val="E7EEE1"/>
          </a:solidFill>
          <a:ln w="6350">
            <a:solidFill>
              <a:srgbClr val="C9D8BE"/>
            </a:solidFill>
            <a:prstDash val="solid"/>
          </a:ln>
        </p:spPr>
        <p:txBody>
          <a:bodyPr/>
          <a:p/>
        </p:txBody>
      </p:sp>
      <p:sp>
        <p:nvSpPr>
          <p:cNvPr id="26" name="Text 20"/>
          <p:cNvSpPr/>
          <p:nvPr/>
        </p:nvSpPr>
        <p:spPr>
          <a:xfrm>
            <a:off x="9823450" y="2255490"/>
            <a:ext cx="14351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E513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823450" y="2550120"/>
            <a:ext cx="1435100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150" b="1" dirty="0">
                <a:solidFill>
                  <a:srgbClr val="3E51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🚀 게시 대기열로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9823450" y="2788841"/>
            <a:ext cx="1435100" cy="194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3E51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저장 후 네이버 게시로 전달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812800" y="3552031"/>
            <a:ext cx="10883392" cy="229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채널 탭마다 [본문/캡션/스레드/자막 저장] 버튼이 따로 있어, 채널별로 수정한 내용만 골라 저장할 수 있습니다.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812800" y="6256040"/>
            <a:ext cx="207277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더스티치 OSMU 사용자 매뉴얼 · 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5B755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08 · NEWS CURATION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456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2629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뉴스 큐레이션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598910"/>
            <a:ext cx="10464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기사를 "고르기"만 하는 화면입니다 — 실제 글 생성은 워크벤치에서 사진·메모를 붙인 뒤 이루어집니다.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975" y="2087215"/>
            <a:ext cx="5187950" cy="1390551"/>
          </a:xfrm>
          <a:prstGeom prst="roundRect">
            <a:avLst>
              <a:gd name="adj" fmla="val 7078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22350" y="2293590"/>
            <a:ext cx="49184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🔎 키워드로 자동 검색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2350" y="2595811"/>
            <a:ext cx="491845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브랜드 킷의 SEO 키워드가 칩으로 나타나고, 검색량 상위 3개가 기본 선택됩니다. 원하는 키워드 칩을 골라 검색하면 관련 기사 목록이 나옵니다.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2350" y="3075831"/>
            <a:ext cx="491845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B755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➕ 워크벤치로 보내기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88075" y="2087215"/>
            <a:ext cx="5187950" cy="1390551"/>
          </a:xfrm>
          <a:prstGeom prst="roundRect">
            <a:avLst>
              <a:gd name="adj" fmla="val 7078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94450" y="2293590"/>
            <a:ext cx="49184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🔗 URL 직접 입력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94450" y="2595811"/>
            <a:ext cx="491845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특정 기사 링크가 이미 있다면 URL과 메모를 직접 넣어 큐레이션할 수 있습니다.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94450" y="2880271"/>
            <a:ext cx="491845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B755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워크벤치로 보내기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5975" y="3738116"/>
            <a:ext cx="10560050" cy="515590"/>
          </a:xfrm>
          <a:prstGeom prst="roundRect">
            <a:avLst>
              <a:gd name="adj" fmla="val 14163"/>
            </a:avLst>
          </a:prstGeom>
          <a:solidFill>
            <a:srgbClr val="E7EEE1"/>
          </a:solidFill>
          <a:ln w="6350">
            <a:solidFill>
              <a:srgbClr val="C9D8B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22350" y="3893691"/>
            <a:ext cx="10451719" cy="229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E51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보내면 워크벤치로 이동했을 때 그 콘텐츠가 자동으로 선택되어 있습니다. 사진·메모만 더하면 됩니다.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2800" y="6256040"/>
            <a:ext cx="207277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더스티치 OSMU 사용자 매뉴얼 · 13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5B755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09 · NAVER PUBLISH (1/2)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456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2629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네이버 반자동 게시 — 시작하기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598910"/>
            <a:ext cx="10464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네이버가 봇의 자동 게시를 막기 때문에 "반"자동입니다 — 제목·본문·사진은 자동으로 채워지지만, 발행은 사람이 직접 누릅니다.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975" y="2087215"/>
            <a:ext cx="4895850" cy="1532781"/>
          </a:xfrm>
          <a:prstGeom prst="roundRect">
            <a:avLst>
              <a:gd name="adj" fmla="val 6421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47750" y="2318990"/>
            <a:ext cx="4565269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50" kern="0" dirty="0">
                <a:solidFill>
                  <a:srgbClr val="5B755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최초 1회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47750" y="2616150"/>
            <a:ext cx="456526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🔓 네이버 로그인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7750" y="2961580"/>
            <a:ext cx="456526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로그인 창이 뜨면 직접 로그인합니다. 세션이 저장되어 이후에는 다시 로그인할 필요가 없습니다. 최대 2분까지 걸릴 수 있습니다.</a:t>
            </a:r>
            <a:endParaRPr lang="en-US" sz="1200" dirty="0"/>
          </a:p>
        </p:txBody>
      </p:sp>
      <p:pic>
        <p:nvPicPr>
          <p:cNvPr id="9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18200" y="2084040"/>
            <a:ext cx="355600" cy="152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80175" y="2087215"/>
            <a:ext cx="4895850" cy="1532781"/>
          </a:xfrm>
          <a:prstGeom prst="roundRect">
            <a:avLst>
              <a:gd name="adj" fmla="val 6421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711950" y="2318990"/>
            <a:ext cx="4565269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50" kern="0" dirty="0">
                <a:solidFill>
                  <a:srgbClr val="5B755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건마다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711950" y="2616150"/>
            <a:ext cx="456526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🚀 지금 게시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711950" y="2961580"/>
            <a:ext cx="456526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게시 대기 탭의 카드에서 클릭하면 Chrome 창이 열리고 제목·본문·사진이 순서대로 자동 입력됩니다.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2800" y="6256040"/>
            <a:ext cx="207277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더스티치 OSMU 사용자 매뉴얼 · 14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5B755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09 · NAVER PUBLISH (2/2)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456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2629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진행 중 꼭 알아둘 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54485"/>
            <a:ext cx="10560050" cy="524470"/>
          </a:xfrm>
          <a:prstGeom prst="roundRect">
            <a:avLst>
              <a:gd name="adj" fmla="val 16345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pic>
        <p:nvPicPr>
          <p:cNvPr id="5" name="Image 0" descr="War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950" y="1910060"/>
            <a:ext cx="203200" cy="20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7150" y="1910060"/>
            <a:ext cx="89545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네이버가 "작성 중인 글이 있습니다" 팝업을 띄우면 </a:t>
            </a:r>
            <a:r>
              <a:rPr lang="en-US" sz="12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자동으로 누르지 않습니다.</a:t>
            </a:r>
            <a:r>
              <a:rPr lang="en-US" sz="1200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취소든 확인이든 </a:t>
            </a:r>
            <a:r>
              <a:rPr lang="en-US" sz="12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직접 닫아주세요</a:t>
            </a:r>
            <a:r>
              <a:rPr lang="en-US" sz="1200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— 닫으면 자동으로 이어집니다.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15975" y="2399605"/>
            <a:ext cx="10560050" cy="524470"/>
          </a:xfrm>
          <a:prstGeom prst="roundRect">
            <a:avLst>
              <a:gd name="adj" fmla="val 16345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pic>
        <p:nvPicPr>
          <p:cNvPr id="8" name="Image 1" descr="Search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6950" y="2555180"/>
            <a:ext cx="203200" cy="203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7150" y="2555180"/>
            <a:ext cx="63531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Chrome 창이 다른 창 뒤에 뜰 수 있습니다 — 안 보이면 작업 표시줄에서 클릭해 앞으로 가져와 주세요.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15975" y="3044726"/>
            <a:ext cx="10560050" cy="524470"/>
          </a:xfrm>
          <a:prstGeom prst="roundRect">
            <a:avLst>
              <a:gd name="adj" fmla="val 16345"/>
            </a:avLst>
          </a:prstGeom>
          <a:solidFill>
            <a:srgbClr val="E7EEE1"/>
          </a:solidFill>
          <a:ln w="6350">
            <a:solidFill>
              <a:srgbClr val="C9D8BE"/>
            </a:solidFill>
            <a:prstDash val="solid"/>
          </a:ln>
        </p:spPr>
        <p:txBody>
          <a:bodyPr/>
          <a:p/>
        </p:txBody>
      </p:sp>
      <p:pic>
        <p:nvPicPr>
          <p:cNvPr id="11" name="Image 2" descr="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96950" y="3200301"/>
            <a:ext cx="203200" cy="203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7150" y="3200301"/>
            <a:ext cx="6299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51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자동화는 제목·본문·사진만 채웁니다. 네이버의 진짜 </a:t>
            </a:r>
            <a:r>
              <a:rPr lang="en-US" sz="1200" b="1" dirty="0">
                <a:solidFill>
                  <a:srgbClr val="3E51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[발행] 버튼은 반드시 사람이 직접</a:t>
            </a:r>
            <a:r>
              <a:rPr lang="en-US" sz="1200" dirty="0">
                <a:solidFill>
                  <a:srgbClr val="3E51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눌러야 합니다.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15975" y="3689846"/>
            <a:ext cx="10560050" cy="737791"/>
          </a:xfrm>
          <a:prstGeom prst="roundRect">
            <a:avLst>
              <a:gd name="adj" fmla="val 11619"/>
            </a:avLst>
          </a:prstGeom>
          <a:solidFill>
            <a:srgbClr val="E7EEE1"/>
          </a:solidFill>
          <a:ln w="6350">
            <a:solidFill>
              <a:srgbClr val="C9D8BE"/>
            </a:solidFill>
            <a:prstDash val="solid"/>
          </a:ln>
        </p:spPr>
        <p:txBody>
          <a:bodyPr/>
          <a:p/>
        </p:txBody>
      </p:sp>
      <p:pic>
        <p:nvPicPr>
          <p:cNvPr id="14" name="Image 3" descr="CheckCircle">    </p:cNvPr>
          <p:cNvPicPr>
            <a:picLocks noChangeAspect="1"/>
          </p:cNvPicPr>
          <p:nvPr/>
        </p:nvPicPr>
        <p:blipFill>
          <a:blip r:embed="rId4"/>
          <a:srcRect l="-854" r="-854" t="0" b="0"/>
          <a:stretch/>
        </p:blipFill>
        <p:spPr>
          <a:xfrm>
            <a:off x="996950" y="3845421"/>
            <a:ext cx="174377" cy="203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98327" y="3845421"/>
            <a:ext cx="1019362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51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발행 후에는 앱에서 </a:t>
            </a:r>
            <a:r>
              <a:rPr lang="en-US" sz="1200" b="1" dirty="0">
                <a:solidFill>
                  <a:srgbClr val="3E51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[✅ 수동으로 완료]</a:t>
            </a:r>
            <a:r>
              <a:rPr lang="en-US" sz="1200" dirty="0">
                <a:solidFill>
                  <a:srgbClr val="3E51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를 눌러야 "게시 완료"로 표시됩니다. 이 앱은 절대 스스로 완료 처리하지 않습니다 — 실제로 안 올라간 글이 완료로 잘못 남는 사고를 막기 위해서입니다.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815975" y="4548287"/>
            <a:ext cx="10560050" cy="524470"/>
          </a:xfrm>
          <a:prstGeom prst="roundRect">
            <a:avLst>
              <a:gd name="adj" fmla="val 16345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pic>
        <p:nvPicPr>
          <p:cNvPr id="17" name="Image 4" descr="Wrench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96950" y="4703862"/>
            <a:ext cx="203200" cy="203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27150" y="4703862"/>
            <a:ext cx="92414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사진 업로드가 가끔 실패할 수 있습니다 — 실패하면 Chrome 창에서 직접 사진을 추가해 주세요. 나머지 내용은 그대로 둔 채 이어서 발행하면 됩니다.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812800" y="6256040"/>
            <a:ext cx="207277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더스티치 OSMU 사용자 매뉴얼 · 15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3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9FC08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 · CHECKLIST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456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F3F0E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처음 한 번만 하면 되는 일</a:t>
            </a:r>
            <a:endParaRPr lang="en-US" sz="3000" dirty="0"/>
          </a:p>
        </p:txBody>
      </p:sp>
      <p:pic>
        <p:nvPicPr>
          <p:cNvPr id="4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841450"/>
            <a:ext cx="203200" cy="20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0300" y="1827510"/>
            <a:ext cx="190650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3F0E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LLM API 등록 · 연결 테스트</a:t>
            </a:r>
            <a:endParaRPr lang="en-US" sz="1300" dirty="0"/>
          </a:p>
        </p:txBody>
      </p:sp>
      <p:pic>
        <p:nvPicPr>
          <p:cNvPr id="6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96000" y="1841450"/>
            <a:ext cx="203200" cy="20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13500" y="1827510"/>
            <a:ext cx="1694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3F0E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브랜드 킷 정보 확인·수정</a:t>
            </a:r>
            <a:endParaRPr lang="en-US" sz="1300" dirty="0"/>
          </a:p>
        </p:txBody>
      </p:sp>
      <p:pic>
        <p:nvPicPr>
          <p:cNvPr id="8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2072580"/>
            <a:ext cx="203200" cy="203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30300" y="2058640"/>
            <a:ext cx="151244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3F0E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네이버 API HUB 등록</a:t>
            </a:r>
            <a:endParaRPr lang="en-US" sz="1300" dirty="0"/>
          </a:p>
        </p:txBody>
      </p:sp>
      <p:pic>
        <p:nvPicPr>
          <p:cNvPr id="10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096000" y="2072580"/>
            <a:ext cx="203200" cy="203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13500" y="2058640"/>
            <a:ext cx="205458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3F0E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네이버 로그인 (반자동 게시용)</a:t>
            </a:r>
            <a:endParaRPr lang="en-US" sz="1300" dirty="0"/>
          </a:p>
        </p:txBody>
      </p:sp>
      <p:pic>
        <p:nvPicPr>
          <p:cNvPr id="12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2800" y="2303711"/>
            <a:ext cx="203200" cy="2032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30300" y="2289770"/>
            <a:ext cx="128428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3F0E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검색광고 API 등록</a:t>
            </a:r>
            <a:endParaRPr lang="en-US" sz="1300" dirty="0"/>
          </a:p>
        </p:txBody>
      </p:sp>
      <p:pic>
        <p:nvPicPr>
          <p:cNvPr id="14" name="Image 5" descr="Che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096000" y="2303711"/>
            <a:ext cx="203200" cy="2032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413500" y="2289770"/>
            <a:ext cx="272325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3F0E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워크벤치 · 뉴스 큐레이션 한 번씩 테스트</a:t>
            </a:r>
            <a:endParaRPr lang="en-US" sz="1300" dirty="0"/>
          </a:p>
        </p:txBody>
      </p:sp>
      <p:pic>
        <p:nvPicPr>
          <p:cNvPr id="16" name="Image 6" descr="Check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12800" y="2534841"/>
            <a:ext cx="203200" cy="2032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130300" y="2520900"/>
            <a:ext cx="228687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3F0E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SEO 키워드 새로 고르기 1~4단계 실행</a:t>
            </a:r>
            <a:endParaRPr lang="en-US" sz="1300" dirty="0"/>
          </a:p>
        </p:txBody>
      </p:sp>
      <p:sp>
        <p:nvSpPr>
          <p:cNvPr id="18" name="Shape 9"/>
          <p:cNvSpPr/>
          <p:nvPr/>
        </p:nvSpPr>
        <p:spPr>
          <a:xfrm>
            <a:off x="812800" y="3056830"/>
            <a:ext cx="10566400" cy="568920"/>
          </a:xfrm>
          <a:prstGeom prst="roundRect">
            <a:avLst>
              <a:gd name="adj" fmla="val 15626"/>
            </a:avLst>
          </a:prstGeom>
          <a:solidFill>
            <a:srgbClr val="3B4230"/>
          </a:solidFill>
          <a:ln/>
        </p:spPr>
        <p:txBody>
          <a:bodyPr/>
          <a:p/>
        </p:txBody>
      </p:sp>
      <p:sp>
        <p:nvSpPr>
          <p:cNvPr id="19" name="Text 10"/>
          <p:cNvSpPr/>
          <p:nvPr/>
        </p:nvSpPr>
        <p:spPr>
          <a:xfrm>
            <a:off x="1016000" y="3234630"/>
            <a:ext cx="10464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8DEC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이후에는 뉴스 큐레이션 또는 워크벤치 → 네이버 게시만 반복하면 됩니다. 게시는 항상 사람이 직접 [발행]을 누르고, [✅ 수동으로 완료]로 마무리합니다.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812800"/>
            <a:ext cx="10883392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spc="100" kern="0" dirty="0">
                <a:solidFill>
                  <a:srgbClr val="5B755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07 · WORKBENCH (2/2)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12800" y="108456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26291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SNS 자동 검증 &amp; 다시 만들기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598910"/>
            <a:ext cx="10464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초안 생성 직후 인스타·X·쇼츠·발행 태그를 자동으로 점검·정리합니다.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975" y="2087215"/>
            <a:ext cx="5187950" cy="1390551"/>
          </a:xfrm>
          <a:prstGeom prst="roundRect">
            <a:avLst>
              <a:gd name="adj" fmla="val 7078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22350" y="2293590"/>
            <a:ext cx="49184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📸 인스타그램 · 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2350" y="2595811"/>
            <a:ext cx="491845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'더보기' 전 범위(앞 125자·2줄) 초과 시 경고, 해시태그 자동 보정. X는 한글 1자=2로 세어 280자에서 자동 분할.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2350" y="3075831"/>
            <a:ext cx="491845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B755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📏 실제 게시 기준과 동일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88075" y="2087215"/>
            <a:ext cx="5187950" cy="1390551"/>
          </a:xfrm>
          <a:prstGeom prst="roundRect">
            <a:avLst>
              <a:gd name="adj" fmla="val 7078"/>
            </a:avLst>
          </a:prstGeom>
          <a:solidFill>
            <a:srgbClr val="FFFDF6"/>
          </a:solidFill>
          <a:ln w="6350">
            <a:solidFill>
              <a:srgbClr val="E4DFD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94450" y="2293590"/>
            <a:ext cx="49184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6291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🎬 쇼츠 · 발행 태그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94450" y="2595811"/>
            <a:ext cx="491845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C635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컷 자막 20자 초과 시 경고, 제목에는 #shorts를 자동으로 붙입니다.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94450" y="2880271"/>
            <a:ext cx="491845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B755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발행 태그 7~12개로 정리, 부족하면 타깃 키워드로 채웁니다.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5975" y="3738116"/>
            <a:ext cx="10560050" cy="515590"/>
          </a:xfrm>
          <a:prstGeom prst="roundRect">
            <a:avLst>
              <a:gd name="adj" fmla="val 14163"/>
            </a:avLst>
          </a:prstGeom>
          <a:solidFill>
            <a:srgbClr val="E7EEE1"/>
          </a:solidFill>
          <a:ln w="6350">
            <a:solidFill>
              <a:srgbClr val="C9D8B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22350" y="3893691"/>
            <a:ext cx="10451719" cy="229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3E513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본문을 고치면 SNS 3채널은 '수정 전 본문 기준'으로 표시됩니다 — 🛡️ 리포트의 [📣 SNS 3채널 다시 만들기]로 최신 내용에 맞춰 다시 만드세요.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2800" y="6256040"/>
            <a:ext cx="207277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8A908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더스티치 OSMU 사용자 매뉴얼 · 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더스티치 OSMU 사용자 매뉴얼</dc:title>
  <dc:subject>PptxGenJS Presentation</dc:subject>
  <dc:creator>PptxGenJS</dc:creator>
  <cp:lastModifiedBy>PptxGenJS</cp:lastModifiedBy>
  <cp:revision>1</cp:revision>
  <dcterms:created xsi:type="dcterms:W3CDTF">2026-09-21T13:07:12Z</dcterms:created>
  <dcterms:modified xsi:type="dcterms:W3CDTF">2026-09-21T13:07:12Z</dcterms:modified>
</cp:coreProperties>
</file>